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11088749" r:id="rId3"/>
    <p:sldId id="11088817" r:id="rId5"/>
    <p:sldId id="11088821" r:id="rId6"/>
    <p:sldId id="11088820" r:id="rId7"/>
    <p:sldId id="11088827" r:id="rId8"/>
    <p:sldId id="11088815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88" userDrawn="1">
          <p15:clr>
            <a:srgbClr val="A4A3A4"/>
          </p15:clr>
        </p15:guide>
        <p15:guide id="4" pos="7038" userDrawn="1">
          <p15:clr>
            <a:srgbClr val="A4A3A4"/>
          </p15:clr>
        </p15:guide>
        <p15:guide id="5" orient="horz" pos="663" userDrawn="1">
          <p15:clr>
            <a:srgbClr val="A4A3A4"/>
          </p15:clr>
        </p15:guide>
        <p15:guide id="6" orient="horz" pos="744" userDrawn="1">
          <p15:clr>
            <a:srgbClr val="A4A3A4"/>
          </p15:clr>
        </p15:guide>
        <p15:guide id="7" orient="horz" pos="3904" userDrawn="1">
          <p15:clr>
            <a:srgbClr val="A4A3A4"/>
          </p15:clr>
        </p15:guide>
        <p15:guide id="8" orient="horz" pos="5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8350"/>
    <a:srgbClr val="9DC183"/>
    <a:srgbClr val="52803F"/>
    <a:srgbClr val="FFFFFF"/>
    <a:srgbClr val="F2F2F2"/>
    <a:srgbClr val="FFF4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6210" autoAdjust="0"/>
  </p:normalViewPr>
  <p:slideViewPr>
    <p:cSldViewPr snapToGrid="0" showGuides="1">
      <p:cViewPr>
        <p:scale>
          <a:sx n="50" d="100"/>
          <a:sy n="50" d="100"/>
        </p:scale>
        <p:origin x="1338" y="1296"/>
      </p:cViewPr>
      <p:guideLst>
        <p:guide orient="horz" pos="2160"/>
        <p:guide pos="3840"/>
        <p:guide pos="688"/>
        <p:guide pos="7038"/>
        <p:guide orient="horz" pos="663"/>
        <p:guide orient="horz" pos="744"/>
        <p:guide orient="horz" pos="3904"/>
        <p:guide orient="horz" pos="59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5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fld id="{4E9ADC55-9CDD-491F-AF05-B1F81B8E2E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fld id="{C3191711-37EB-4DF1-A7AC-2A328BEA32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91711-37EB-4DF1-A7AC-2A328BEA32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91711-37EB-4DF1-A7AC-2A328BEA32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BDEA-C6ED-42B5-8A16-EF267872E6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ECD0-FE57-4B05-B7CF-142BEA28111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8685" y="136525"/>
            <a:ext cx="11727543" cy="658495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BDEA-C6ED-42B5-8A16-EF267872E6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ECD0-FE57-4B05-B7CF-142BEA2811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fld id="{8B0BBDEA-C6ED-42B5-8A16-EF267872E6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fld id="{8524ECD0-FE57-4B05-B7CF-142BEA28111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20700" y="493939"/>
            <a:ext cx="11150600" cy="5870122"/>
          </a:xfrm>
          <a:prstGeom prst="rect">
            <a:avLst/>
          </a:prstGeom>
          <a:noFill/>
          <a:ln w="38100">
            <a:solidFill>
              <a:srgbClr val="3F83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704020202020204" pitchFamily="34" charset="0"/>
          <a:ea typeface="Arial" panose="020B07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Arial" panose="020B0704020202020204" pitchFamily="34" charset="0"/>
          <a:ea typeface="Arial" panose="020B07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Arial" panose="020B0704020202020204" pitchFamily="34" charset="0"/>
          <a:ea typeface="Arial" panose="020B07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Arial" panose="020B0704020202020204" pitchFamily="34" charset="0"/>
          <a:ea typeface="Arial" panose="020B07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Arial" panose="020B0704020202020204" pitchFamily="34" charset="0"/>
          <a:ea typeface="Arial" panose="020B07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Arial" panose="020B0704020202020204" pitchFamily="34" charset="0"/>
          <a:ea typeface="Arial" panose="020B07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20700" y="704851"/>
            <a:ext cx="11150600" cy="5702300"/>
          </a:xfrm>
          <a:prstGeom prst="rect">
            <a:avLst/>
          </a:prstGeom>
          <a:noFill/>
          <a:ln w="38100">
            <a:solidFill>
              <a:srgbClr val="3F83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48"/>
          <a:stretch>
            <a:fillRect/>
          </a:stretch>
        </p:blipFill>
        <p:spPr>
          <a:xfrm flipV="1">
            <a:off x="0" y="0"/>
            <a:ext cx="12192000" cy="330200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2692668" y="2595245"/>
            <a:ext cx="7351244" cy="3212316"/>
            <a:chOff x="2692668" y="2595245"/>
            <a:chExt cx="7351244" cy="3212316"/>
          </a:xfrm>
        </p:grpSpPr>
        <p:sp>
          <p:nvSpPr>
            <p:cNvPr id="14" name="矩形 13"/>
            <p:cNvSpPr/>
            <p:nvPr/>
          </p:nvSpPr>
          <p:spPr>
            <a:xfrm>
              <a:off x="2692668" y="2595245"/>
              <a:ext cx="6806664" cy="27997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altLang="en-US" sz="4400" b="1" dirty="0">
                  <a:solidFill>
                    <a:srgbClr val="3F83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704020202020204" pitchFamily="34" charset="0"/>
                  <a:ea typeface="Arial" panose="020B0704020202020204" pitchFamily="34" charset="0"/>
                  <a:cs typeface="Arial" panose="020B0704020202020204" pitchFamily="34" charset="0"/>
                </a:rPr>
                <a:t>Мобильный проект: </a:t>
              </a:r>
              <a:r>
                <a:rPr lang="en-US" altLang="en-US" sz="4400" b="1" dirty="0">
                  <a:solidFill>
                    <a:srgbClr val="3F83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704020202020204" pitchFamily="34" charset="0"/>
                  <a:ea typeface="Arial" panose="020B0704020202020204" pitchFamily="34" charset="0"/>
                  <a:cs typeface="Arial" panose="020B0704020202020204" pitchFamily="34" charset="0"/>
                </a:rPr>
                <a:t>MotivationTodoApp </a:t>
              </a:r>
              <a:r>
                <a:rPr lang="ru-RU" altLang="en-US" sz="4400" b="1" dirty="0">
                  <a:solidFill>
                    <a:srgbClr val="3F83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704020202020204" pitchFamily="34" charset="0"/>
                  <a:ea typeface="Arial" panose="020B0704020202020204" pitchFamily="34" charset="0"/>
                  <a:cs typeface="Arial" panose="020B0704020202020204" pitchFamily="34" charset="0"/>
                </a:rPr>
                <a:t>-</a:t>
              </a:r>
              <a:r>
                <a:rPr lang="en-US" altLang="en-US" sz="4400" b="1" dirty="0">
                  <a:solidFill>
                    <a:srgbClr val="3F83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704020202020204" pitchFamily="34" charset="0"/>
                  <a:ea typeface="Arial" panose="020B0704020202020204" pitchFamily="34" charset="0"/>
                  <a:cs typeface="Arial" panose="020B0704020202020204" pitchFamily="34" charset="0"/>
                </a:rPr>
                <a:t>помощник в делах и мотивации</a:t>
              </a:r>
              <a:endParaRPr lang="en-US" altLang="en-US" sz="4400" b="1" dirty="0">
                <a:solidFill>
                  <a:srgbClr val="3F83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2868976" y="5415488"/>
              <a:ext cx="7174936" cy="392073"/>
              <a:chOff x="3047909" y="5425192"/>
              <a:chExt cx="7174936" cy="392073"/>
            </a:xfrm>
          </p:grpSpPr>
          <p:sp>
            <p:nvSpPr>
              <p:cNvPr id="18" name="Shape 637"/>
              <p:cNvSpPr/>
              <p:nvPr/>
            </p:nvSpPr>
            <p:spPr>
              <a:xfrm>
                <a:off x="3047909" y="5425192"/>
                <a:ext cx="306377" cy="392073"/>
              </a:xfrm>
              <a:custGeom>
                <a:avLst/>
                <a:gdLst>
                  <a:gd name="connsiteX0" fmla="*/ 118658 w 474552"/>
                  <a:gd name="connsiteY0" fmla="*/ 330881 h 607286"/>
                  <a:gd name="connsiteX1" fmla="*/ 128808 w 474552"/>
                  <a:gd name="connsiteY1" fmla="*/ 330881 h 607286"/>
                  <a:gd name="connsiteX2" fmla="*/ 138880 w 474552"/>
                  <a:gd name="connsiteY2" fmla="*/ 340467 h 607286"/>
                  <a:gd name="connsiteX3" fmla="*/ 237315 w 474552"/>
                  <a:gd name="connsiteY3" fmla="*/ 429642 h 607286"/>
                  <a:gd name="connsiteX4" fmla="*/ 335672 w 474552"/>
                  <a:gd name="connsiteY4" fmla="*/ 340467 h 607286"/>
                  <a:gd name="connsiteX5" fmla="*/ 345823 w 474552"/>
                  <a:gd name="connsiteY5" fmla="*/ 330881 h 607286"/>
                  <a:gd name="connsiteX6" fmla="*/ 355973 w 474552"/>
                  <a:gd name="connsiteY6" fmla="*/ 330881 h 607286"/>
                  <a:gd name="connsiteX7" fmla="*/ 474552 w 474552"/>
                  <a:gd name="connsiteY7" fmla="*/ 449363 h 607286"/>
                  <a:gd name="connsiteX8" fmla="*/ 474552 w 474552"/>
                  <a:gd name="connsiteY8" fmla="*/ 567845 h 607286"/>
                  <a:gd name="connsiteX9" fmla="*/ 435052 w 474552"/>
                  <a:gd name="connsiteY9" fmla="*/ 607286 h 607286"/>
                  <a:gd name="connsiteX10" fmla="*/ 39579 w 474552"/>
                  <a:gd name="connsiteY10" fmla="*/ 607286 h 607286"/>
                  <a:gd name="connsiteX11" fmla="*/ 0 w 474552"/>
                  <a:gd name="connsiteY11" fmla="*/ 567845 h 607286"/>
                  <a:gd name="connsiteX12" fmla="*/ 0 w 474552"/>
                  <a:gd name="connsiteY12" fmla="*/ 449363 h 607286"/>
                  <a:gd name="connsiteX13" fmla="*/ 118658 w 474552"/>
                  <a:gd name="connsiteY13" fmla="*/ 330881 h 607286"/>
                  <a:gd name="connsiteX14" fmla="*/ 315130 w 474552"/>
                  <a:gd name="connsiteY14" fmla="*/ 118095 h 607286"/>
                  <a:gd name="connsiteX15" fmla="*/ 237312 w 474552"/>
                  <a:gd name="connsiteY15" fmla="*/ 162332 h 607286"/>
                  <a:gd name="connsiteX16" fmla="*/ 135653 w 474552"/>
                  <a:gd name="connsiteY16" fmla="*/ 182682 h 607286"/>
                  <a:gd name="connsiteX17" fmla="*/ 237312 w 474552"/>
                  <a:gd name="connsiteY17" fmla="*/ 284120 h 607286"/>
                  <a:gd name="connsiteX18" fmla="*/ 338893 w 474552"/>
                  <a:gd name="connsiteY18" fmla="*/ 182682 h 607286"/>
                  <a:gd name="connsiteX19" fmla="*/ 315130 w 474552"/>
                  <a:gd name="connsiteY19" fmla="*/ 118095 h 607286"/>
                  <a:gd name="connsiteX20" fmla="*/ 237312 w 474552"/>
                  <a:gd name="connsiteY20" fmla="*/ 0 h 607286"/>
                  <a:gd name="connsiteX21" fmla="*/ 379572 w 474552"/>
                  <a:gd name="connsiteY21" fmla="*/ 162332 h 607286"/>
                  <a:gd name="connsiteX22" fmla="*/ 237312 w 474552"/>
                  <a:gd name="connsiteY22" fmla="*/ 324742 h 607286"/>
                  <a:gd name="connsiteX23" fmla="*/ 95052 w 474552"/>
                  <a:gd name="connsiteY23" fmla="*/ 162332 h 607286"/>
                  <a:gd name="connsiteX24" fmla="*/ 237312 w 474552"/>
                  <a:gd name="connsiteY24" fmla="*/ 0 h 607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74552" h="607286">
                    <a:moveTo>
                      <a:pt x="118658" y="330881"/>
                    </a:moveTo>
                    <a:lnTo>
                      <a:pt x="128808" y="330881"/>
                    </a:lnTo>
                    <a:cubicBezTo>
                      <a:pt x="134080" y="330881"/>
                      <a:pt x="138329" y="335203"/>
                      <a:pt x="138880" y="340467"/>
                    </a:cubicBezTo>
                    <a:cubicBezTo>
                      <a:pt x="143680" y="390515"/>
                      <a:pt x="185934" y="429642"/>
                      <a:pt x="237315" y="429642"/>
                    </a:cubicBezTo>
                    <a:cubicBezTo>
                      <a:pt x="288618" y="429642"/>
                      <a:pt x="330872" y="390515"/>
                      <a:pt x="335672" y="340467"/>
                    </a:cubicBezTo>
                    <a:cubicBezTo>
                      <a:pt x="336223" y="335203"/>
                      <a:pt x="340472" y="330881"/>
                      <a:pt x="345823" y="330881"/>
                    </a:cubicBezTo>
                    <a:lnTo>
                      <a:pt x="355973" y="330881"/>
                    </a:lnTo>
                    <a:cubicBezTo>
                      <a:pt x="421518" y="330881"/>
                      <a:pt x="474552" y="383915"/>
                      <a:pt x="474552" y="449363"/>
                    </a:cubicBezTo>
                    <a:lnTo>
                      <a:pt x="474552" y="567845"/>
                    </a:lnTo>
                    <a:cubicBezTo>
                      <a:pt x="474552" y="589687"/>
                      <a:pt x="456926" y="607286"/>
                      <a:pt x="435052" y="607286"/>
                    </a:cubicBezTo>
                    <a:lnTo>
                      <a:pt x="39579" y="607286"/>
                    </a:lnTo>
                    <a:cubicBezTo>
                      <a:pt x="17704" y="607286"/>
                      <a:pt x="0" y="589687"/>
                      <a:pt x="0" y="567845"/>
                    </a:cubicBezTo>
                    <a:lnTo>
                      <a:pt x="0" y="449363"/>
                    </a:lnTo>
                    <a:cubicBezTo>
                      <a:pt x="0" y="383915"/>
                      <a:pt x="53113" y="330881"/>
                      <a:pt x="118658" y="330881"/>
                    </a:cubicBezTo>
                    <a:close/>
                    <a:moveTo>
                      <a:pt x="315130" y="118095"/>
                    </a:moveTo>
                    <a:cubicBezTo>
                      <a:pt x="305373" y="143632"/>
                      <a:pt x="274372" y="162332"/>
                      <a:pt x="237312" y="162332"/>
                    </a:cubicBezTo>
                    <a:cubicBezTo>
                      <a:pt x="200173" y="162332"/>
                      <a:pt x="135653" y="158010"/>
                      <a:pt x="135653" y="182682"/>
                    </a:cubicBezTo>
                    <a:cubicBezTo>
                      <a:pt x="135653" y="238705"/>
                      <a:pt x="181132" y="284120"/>
                      <a:pt x="237312" y="284120"/>
                    </a:cubicBezTo>
                    <a:cubicBezTo>
                      <a:pt x="293335" y="284120"/>
                      <a:pt x="338893" y="238705"/>
                      <a:pt x="338893" y="182682"/>
                    </a:cubicBezTo>
                    <a:cubicBezTo>
                      <a:pt x="338893" y="158010"/>
                      <a:pt x="329765" y="135696"/>
                      <a:pt x="315130" y="118095"/>
                    </a:cubicBezTo>
                    <a:close/>
                    <a:moveTo>
                      <a:pt x="237312" y="0"/>
                    </a:moveTo>
                    <a:cubicBezTo>
                      <a:pt x="315838" y="0"/>
                      <a:pt x="379572" y="72680"/>
                      <a:pt x="379572" y="162332"/>
                    </a:cubicBezTo>
                    <a:cubicBezTo>
                      <a:pt x="379572" y="251984"/>
                      <a:pt x="315838" y="324742"/>
                      <a:pt x="237312" y="324742"/>
                    </a:cubicBezTo>
                    <a:cubicBezTo>
                      <a:pt x="158707" y="324742"/>
                      <a:pt x="95052" y="251984"/>
                      <a:pt x="95052" y="162332"/>
                    </a:cubicBezTo>
                    <a:cubicBezTo>
                      <a:pt x="95052" y="72680"/>
                      <a:pt x="158707" y="0"/>
                      <a:pt x="237312" y="0"/>
                    </a:cubicBezTo>
                    <a:close/>
                  </a:path>
                </a:pathLst>
              </a:custGeom>
              <a:solidFill>
                <a:srgbClr val="3F8350"/>
              </a:solidFill>
              <a:ln w="12700">
                <a:miter lim="400000"/>
              </a:ln>
            </p:spPr>
            <p:txBody>
              <a:bodyPr lIns="22860" rIns="2286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228600" hangingPunct="0">
                  <a:lnSpc>
                    <a:spcPct val="93000"/>
                  </a:lnSpc>
                  <a:defRPr sz="1800">
                    <a:solidFill>
                      <a:srgbClr val="000000"/>
                    </a:solidFill>
                  </a:defRPr>
                </a:pPr>
                <a:endParaRPr sz="1000" kern="0" dirty="0">
                  <a:solidFill>
                    <a:schemeClr val="bg1"/>
                  </a:solidFill>
                  <a:latin typeface="Arial" panose="020B0704020202020204" pitchFamily="34" charset="0"/>
                  <a:cs typeface="Arial" panose="020B0704020202020204" pitchFamily="34" charset="0"/>
                  <a:sym typeface="Arial" panose="020B0704020202020204" pitchFamily="34" charset="0"/>
                </a:endParaRPr>
              </a:p>
            </p:txBody>
          </p:sp>
          <p:sp>
            <p:nvSpPr>
              <p:cNvPr id="2" name="矩形 1"/>
              <p:cNvSpPr/>
              <p:nvPr/>
            </p:nvSpPr>
            <p:spPr>
              <a:xfrm>
                <a:off x="3453110" y="5448864"/>
                <a:ext cx="6769735" cy="368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ru-RU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704020202020204" pitchFamily="34" charset="0"/>
                    <a:ea typeface="Arial" panose="020B0704020202020204" pitchFamily="34" charset="0"/>
                    <a:cs typeface="Arial" panose="020B0704020202020204" pitchFamily="34" charset="0"/>
                  </a:rPr>
                  <a:t>Выполнила: студентка группы 402ИС-22 Сангаджи-Горяева С</a:t>
                </a:r>
                <a:endParaRPr lang="ru-RU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704020202020204" pitchFamily="34" charset="0"/>
                  <a:ea typeface="Arial" panose="020B0704020202020204" pitchFamily="34" charset="0"/>
                  <a:cs typeface="Arial" panose="020B0704020202020204" pitchFamily="3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0175" y="519430"/>
            <a:ext cx="9391650" cy="1325880"/>
          </a:xfrm>
        </p:spPr>
        <p:txBody>
          <a:bodyPr>
            <a:noAutofit/>
          </a:bodyPr>
          <a:p>
            <a:pPr algn="ctr"/>
            <a:r>
              <a:rPr lang="en-US" altLang="en-US" b="1" dirty="0">
                <a:solidFill>
                  <a:srgbClr val="3F83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704020202020204" pitchFamily="34" charset="0"/>
                <a:sym typeface="+mn-ea"/>
              </a:rPr>
              <a:t>П</a:t>
            </a:r>
            <a:r>
              <a:rPr lang="ru-RU" altLang="en-US" b="1" dirty="0">
                <a:solidFill>
                  <a:srgbClr val="3F83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704020202020204" pitchFamily="34" charset="0"/>
                <a:sym typeface="+mn-ea"/>
              </a:rPr>
              <a:t>риложения для создания заметок</a:t>
            </a:r>
            <a:endParaRPr lang="ru-RU" altLang="en-US" b="1" dirty="0">
              <a:solidFill>
                <a:srgbClr val="3F83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704020202020204" pitchFamily="3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531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US" b="1" i="1">
                <a:cs typeface="Arial" panose="020B0704020202020204" pitchFamily="34" charset="0"/>
              </a:rPr>
              <a:t>MotivationTodoApp</a:t>
            </a:r>
            <a:r>
              <a:rPr lang="en-US" altLang="en-US"/>
              <a:t> </a:t>
            </a:r>
            <a:r>
              <a:rPr lang="ru-RU" altLang="en-US"/>
              <a:t>- </a:t>
            </a:r>
            <a:r>
              <a:rPr lang="en-US" altLang="en-US"/>
              <a:t>это приложение для Android с простым и удобным интерфейсом, которое помогает пользователю вести список дел. Приложение показывает рандомные мотивационные фразы и радует пользователя милыми изображениями котиков.</a:t>
            </a:r>
            <a:endParaRPr lang="en-US" altLang="en-US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4074160" y="3884930"/>
            <a:ext cx="4044315" cy="2274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2025" y="499745"/>
            <a:ext cx="7728585" cy="1325880"/>
          </a:xfrm>
        </p:spPr>
        <p:txBody>
          <a:bodyPr/>
          <a:p>
            <a:r>
              <a:rPr lang="ru-RU" altLang="en-US" b="1" dirty="0">
                <a:solidFill>
                  <a:srgbClr val="3F83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704020202020204" pitchFamily="34" charset="0"/>
                <a:sym typeface="+mn-ea"/>
              </a:rPr>
              <a:t>Используемые технологии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8950"/>
            <a:ext cx="105156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/>
              <a:t>Язык и платформа: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	•Kotlin </a:t>
            </a:r>
            <a:r>
              <a:rPr lang="ru-RU" altLang="en-US" sz="2000"/>
              <a:t>- </a:t>
            </a:r>
            <a:r>
              <a:rPr lang="en-US" altLang="en-US" sz="2000"/>
              <a:t>современный язык для Android-разработки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	•Android SDK 24+ </a:t>
            </a:r>
            <a:r>
              <a:rPr lang="ru-RU" altLang="en-US" sz="2000"/>
              <a:t>- </a:t>
            </a:r>
            <a:r>
              <a:rPr lang="en-US" altLang="en-US" sz="2000"/>
              <a:t>поддержка большинства устройств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Хранение данных: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	•SharedPreferences </a:t>
            </a:r>
            <a:r>
              <a:rPr lang="ru-RU" altLang="en-US" sz="2000"/>
              <a:t>- </a:t>
            </a:r>
            <a:r>
              <a:rPr lang="en-US" altLang="en-US" sz="2000"/>
              <a:t>для сохранения списка дел между запусками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АрхитектураI: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	•Простая Activity + XML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	•ArrayAdapter + ListView </a:t>
            </a:r>
            <a:r>
              <a:rPr lang="ru-RU" altLang="en-US" sz="2000"/>
              <a:t>- </a:t>
            </a:r>
            <a:r>
              <a:rPr lang="en-US" altLang="en-US" sz="2000"/>
              <a:t>отображение списка задач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	•Random </a:t>
            </a:r>
            <a:r>
              <a:rPr lang="ru-RU" altLang="en-US" sz="2000"/>
              <a:t>- </a:t>
            </a:r>
            <a:r>
              <a:rPr lang="en-US" altLang="en-US" sz="2000"/>
              <a:t>для отображения случайных мотивационных фраз</a:t>
            </a:r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415" y="367030"/>
            <a:ext cx="8344535" cy="1325880"/>
          </a:xfrm>
        </p:spPr>
        <p:txBody>
          <a:bodyPr/>
          <a:p>
            <a:r>
              <a:rPr lang="ru-RU" altLang="en-US" sz="3200" b="1" dirty="0">
                <a:solidFill>
                  <a:srgbClr val="3F83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704020202020204" pitchFamily="34" charset="0"/>
                <a:sym typeface="+mn-ea"/>
              </a:rPr>
              <a:t>Интерфейс и функционал приложения</a:t>
            </a:r>
            <a:endParaRPr lang="ru-RU" altLang="en-US" sz="3200" b="1" dirty="0">
              <a:solidFill>
                <a:srgbClr val="3F83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704020202020204" pitchFamily="34" charset="0"/>
              <a:sym typeface="+mn-ea"/>
            </a:endParaRPr>
          </a:p>
        </p:txBody>
      </p:sp>
      <p:pic>
        <p:nvPicPr>
          <p:cNvPr id="8" name="Picture 7" descr="Screenshot 2025-12-25 at 10.04.3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6930" y="1546860"/>
            <a:ext cx="5438140" cy="453326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81685" y="1546860"/>
            <a:ext cx="2400935" cy="413766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 b="1"/>
              <a:t>Функционал:</a:t>
            </a:r>
            <a:endParaRPr lang="en-US" altLang="zh-CN" sz="1600" b="1"/>
          </a:p>
          <a:p>
            <a:endParaRPr lang="en-US" altLang="zh-CN" sz="1600" b="1"/>
          </a:p>
          <a:p>
            <a:pPr>
              <a:buFont typeface="Arial" panose="020B0704020202020204"/>
              <a:buChar char="•"/>
            </a:pPr>
            <a:r>
              <a:rPr lang="en-US" altLang="zh-CN" sz="1600"/>
              <a:t>Добавление новых дел</a:t>
            </a:r>
            <a:endParaRPr lang="en-US" altLang="zh-CN" sz="1600"/>
          </a:p>
          <a:p>
            <a:pPr>
              <a:buFont typeface="Arial" panose="020B0704020202020204"/>
              <a:buChar char="•"/>
            </a:pPr>
            <a:endParaRPr lang="en-US" altLang="zh-CN" sz="1600"/>
          </a:p>
          <a:p>
            <a:pPr>
              <a:buFont typeface="Arial" panose="020B0704020202020204"/>
              <a:buChar char="•"/>
            </a:pPr>
            <a:r>
              <a:rPr lang="en-US" altLang="zh-CN" sz="1600"/>
              <a:t>Удаление задач тапом</a:t>
            </a:r>
            <a:endParaRPr lang="en-US" altLang="zh-CN" sz="1600"/>
          </a:p>
          <a:p>
            <a:pPr>
              <a:buFont typeface="Arial" panose="020B0704020202020204"/>
              <a:buChar char="•"/>
            </a:pPr>
            <a:endParaRPr lang="en-US" altLang="zh-CN" sz="1600"/>
          </a:p>
          <a:p>
            <a:pPr>
              <a:buFont typeface="Arial" panose="020B0704020202020204"/>
              <a:buChar char="•"/>
            </a:pPr>
            <a:r>
              <a:rPr lang="en-US" altLang="zh-CN" sz="1600"/>
              <a:t>Сохранение списка дел между запусками</a:t>
            </a:r>
            <a:endParaRPr lang="en-US" altLang="zh-CN" sz="1600"/>
          </a:p>
          <a:p>
            <a:pPr>
              <a:buFont typeface="Arial" panose="020B0704020202020204"/>
              <a:buChar char="•"/>
            </a:pPr>
            <a:endParaRPr lang="en-US" altLang="zh-CN" sz="1600"/>
          </a:p>
          <a:p>
            <a:pPr>
              <a:buFont typeface="Arial" panose="020B0704020202020204"/>
              <a:buChar char="•"/>
            </a:pPr>
            <a:r>
              <a:rPr lang="en-US" altLang="zh-CN" sz="1600"/>
              <a:t>Рандомные мотивационные фразы</a:t>
            </a:r>
            <a:endParaRPr lang="en-US" altLang="zh-CN" sz="1600"/>
          </a:p>
          <a:p>
            <a:pPr>
              <a:buFont typeface="Arial" panose="020B0704020202020204"/>
              <a:buChar char="•"/>
            </a:pPr>
            <a:endParaRPr lang="en-US" altLang="zh-CN" sz="1600"/>
          </a:p>
          <a:p>
            <a:pPr>
              <a:buFont typeface="Arial" panose="020B0704020202020204"/>
              <a:buChar char="•"/>
            </a:pPr>
            <a:r>
              <a:rPr lang="en-US" altLang="zh-CN" sz="1600"/>
              <a:t>Постоянное отображение котика</a:t>
            </a:r>
            <a:endParaRPr lang="en-US" altLang="zh-CN" sz="1600"/>
          </a:p>
          <a:p>
            <a:endParaRPr lang="en-US" altLang="zh-CN" sz="1600"/>
          </a:p>
        </p:txBody>
      </p:sp>
      <p:sp>
        <p:nvSpPr>
          <p:cNvPr id="10" name="Text Box 9"/>
          <p:cNvSpPr txBox="1"/>
          <p:nvPr/>
        </p:nvSpPr>
        <p:spPr>
          <a:xfrm>
            <a:off x="8692515" y="1546860"/>
            <a:ext cx="2804160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zh-CN" sz="1600" b="1">
                <a:sym typeface="+mn-ea"/>
              </a:rPr>
              <a:t>Интерфейс:</a:t>
            </a:r>
            <a:endParaRPr lang="en-US" altLang="zh-CN" sz="1600" b="1"/>
          </a:p>
          <a:p>
            <a:pPr algn="r"/>
            <a:endParaRPr lang="en-US" altLang="zh-CN" sz="1600" b="1"/>
          </a:p>
          <a:p>
            <a:pPr algn="r">
              <a:buFont typeface="Arial" panose="020B0704020202020204"/>
              <a:buChar char="•"/>
            </a:pPr>
            <a:r>
              <a:rPr lang="en-US" altLang="zh-CN" sz="1600">
                <a:sym typeface="+mn-ea"/>
              </a:rPr>
              <a:t>Простая вертикальная разметка</a:t>
            </a:r>
            <a:endParaRPr lang="en-US" altLang="zh-CN" sz="1600"/>
          </a:p>
          <a:p>
            <a:pPr algn="r">
              <a:buFont typeface="Arial" panose="020B0704020202020204"/>
              <a:buChar char="•"/>
            </a:pPr>
            <a:endParaRPr lang="en-US" altLang="zh-CN" sz="1600"/>
          </a:p>
          <a:p>
            <a:pPr algn="r">
              <a:buFont typeface="Arial" panose="020B0704020202020204"/>
              <a:buChar char="•"/>
            </a:pPr>
            <a:r>
              <a:rPr lang="en-US" altLang="zh-CN" sz="1600">
                <a:sym typeface="+mn-ea"/>
              </a:rPr>
              <a:t>EditText для ввода задач</a:t>
            </a:r>
            <a:endParaRPr lang="en-US" altLang="zh-CN" sz="1600"/>
          </a:p>
          <a:p>
            <a:pPr algn="r">
              <a:buFont typeface="Arial" panose="020B0704020202020204"/>
              <a:buChar char="•"/>
            </a:pPr>
            <a:endParaRPr lang="en-US" altLang="zh-CN" sz="1600"/>
          </a:p>
          <a:p>
            <a:pPr algn="r">
              <a:buFont typeface="Arial" panose="020B0704020202020204"/>
              <a:buChar char="•"/>
            </a:pPr>
            <a:r>
              <a:rPr lang="en-US" altLang="zh-CN" sz="1600">
                <a:sym typeface="+mn-ea"/>
              </a:rPr>
              <a:t>Кнопка добавления задач</a:t>
            </a:r>
            <a:endParaRPr lang="en-US" altLang="zh-CN" sz="1600"/>
          </a:p>
          <a:p>
            <a:pPr algn="r">
              <a:buFont typeface="Arial" panose="020B0704020202020204"/>
              <a:buChar char="•"/>
            </a:pPr>
            <a:endParaRPr lang="en-US" altLang="zh-CN" sz="1600"/>
          </a:p>
          <a:p>
            <a:pPr algn="r">
              <a:buFont typeface="Arial" panose="020B0704020202020204"/>
              <a:buChar char="•"/>
            </a:pPr>
            <a:r>
              <a:rPr lang="en-US" altLang="zh-CN" sz="1600">
                <a:sym typeface="+mn-ea"/>
              </a:rPr>
              <a:t>ListView для отображения списка</a:t>
            </a:r>
            <a:endParaRPr lang="en-US" altLang="zh-CN" sz="1600"/>
          </a:p>
          <a:p>
            <a:pPr algn="r">
              <a:buFont typeface="Arial" panose="020B0704020202020204"/>
              <a:buChar char="•"/>
            </a:pPr>
            <a:endParaRPr lang="en-US" altLang="zh-CN" sz="1600"/>
          </a:p>
          <a:p>
            <a:pPr algn="r">
              <a:buFont typeface="Arial" panose="020B0704020202020204"/>
              <a:buChar char="•"/>
            </a:pPr>
            <a:r>
              <a:rPr lang="en-US" altLang="zh-CN" sz="1600">
                <a:sym typeface="+mn-ea"/>
              </a:rPr>
              <a:t>TextView для мотивационной фразы</a:t>
            </a:r>
            <a:endParaRPr lang="en-US" altLang="zh-CN" sz="1600"/>
          </a:p>
          <a:p>
            <a:pPr algn="r">
              <a:buFont typeface="Arial" panose="020B0704020202020204"/>
              <a:buChar char="•"/>
            </a:pPr>
            <a:endParaRPr lang="en-US" altLang="zh-CN" sz="1600"/>
          </a:p>
          <a:p>
            <a:pPr algn="r">
              <a:buFont typeface="Arial" panose="020B0704020202020204"/>
              <a:buChar char="•"/>
            </a:pPr>
            <a:r>
              <a:rPr lang="en-US" altLang="zh-CN" sz="1600">
                <a:sym typeface="+mn-ea"/>
              </a:rPr>
              <a:t>ImageView для котика</a:t>
            </a:r>
            <a:endParaRPr lang="en-US" altLang="zh-CN" sz="16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365" y="487045"/>
            <a:ext cx="6949440" cy="1325880"/>
          </a:xfrm>
        </p:spPr>
        <p:txBody>
          <a:bodyPr>
            <a:normAutofit/>
          </a:bodyPr>
          <a:p>
            <a:r>
              <a:rPr lang="ru-RU" altLang="en-US" b="1" dirty="0">
                <a:solidFill>
                  <a:srgbClr val="3F83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704020202020204" pitchFamily="34" charset="0"/>
                <a:sym typeface="+mn-ea"/>
              </a:rPr>
              <a:t>Системные требования</a:t>
            </a:r>
            <a:endParaRPr lang="ru-RU" altLang="en-US" b="1" dirty="0">
              <a:solidFill>
                <a:srgbClr val="3F83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704020202020204" pitchFamily="34" charset="0"/>
              <a:sym typeface="+mn-ea"/>
            </a:endParaRPr>
          </a:p>
        </p:txBody>
      </p:sp>
      <p:pic>
        <p:nvPicPr>
          <p:cNvPr id="9" name="Picture 8" descr="Screenshot 2025-12-25 at 10.00.3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630" y="918845"/>
            <a:ext cx="2263140" cy="502094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136650" y="2109470"/>
            <a:ext cx="5130165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sym typeface="+mn-ea"/>
              </a:rPr>
              <a:t>Android 7.0+ (API 24)</a:t>
            </a:r>
            <a:endParaRPr lang="en-US" altLang="en-US" sz="2000">
              <a:sym typeface="+mn-ea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sym typeface="+mn-ea"/>
              </a:rPr>
              <a:t>Локальное хранение данных (SharedPreferences)</a:t>
            </a:r>
            <a:endParaRPr lang="en-US" altLang="en-US" sz="2000">
              <a:sym typeface="+mn-ea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sym typeface="+mn-ea"/>
              </a:rPr>
              <a:t>Размер приложения: ~5 MB</a:t>
            </a:r>
            <a:endParaRPr lang="en-US" altLang="en-US" sz="2000">
              <a:sym typeface="+mn-ea"/>
            </a:endParaRPr>
          </a:p>
          <a:p>
            <a:endParaRPr lang="en-US" altLang="en-US" sz="2000">
              <a:sym typeface="+mn-ea"/>
            </a:endParaRPr>
          </a:p>
          <a:p>
            <a:r>
              <a:rPr lang="en-US" altLang="en-US" sz="2000">
                <a:sym typeface="+mn-ea"/>
              </a:rPr>
              <a:t>Поддерживаемые языки: Русский</a:t>
            </a:r>
            <a:r>
              <a:rPr lang="ru-RU" altLang="en-US" sz="2000">
                <a:sym typeface="+mn-ea"/>
              </a:rPr>
              <a:t>, Английский</a:t>
            </a:r>
            <a:endParaRPr lang="en-US" altLang="en-US" sz="2000">
              <a:sym typeface="+mn-ea"/>
            </a:endParaRPr>
          </a:p>
          <a:p>
            <a:endParaRPr lang="en-US" altLang="en-US" sz="2000">
              <a:sym typeface="+mn-ea"/>
            </a:endParaRPr>
          </a:p>
          <a:p>
            <a:r>
              <a:rPr lang="en-US" altLang="en-US" sz="2000">
                <a:sym typeface="+mn-ea"/>
              </a:rPr>
              <a:t>Частота обновления: по действиям пользователя (добавление/удаление задач)</a:t>
            </a:r>
            <a:endParaRPr lang="en-US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20700" y="704851"/>
            <a:ext cx="11150600" cy="5702300"/>
          </a:xfrm>
          <a:prstGeom prst="rect">
            <a:avLst/>
          </a:prstGeom>
          <a:noFill/>
          <a:ln w="38100">
            <a:solidFill>
              <a:srgbClr val="3F83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48"/>
          <a:stretch>
            <a:fillRect/>
          </a:stretch>
        </p:blipFill>
        <p:spPr>
          <a:xfrm flipV="1">
            <a:off x="0" y="0"/>
            <a:ext cx="12192000" cy="3302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2693938" y="2703830"/>
            <a:ext cx="6806664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ru-RU" altLang="en-US" sz="8000" b="1" dirty="0">
                <a:solidFill>
                  <a:srgbClr val="3F83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</a:rPr>
              <a:t>Спасибо за внимание!</a:t>
            </a:r>
            <a:endParaRPr lang="ru-RU" altLang="en-US" sz="8000" b="1" dirty="0">
              <a:solidFill>
                <a:srgbClr val="3F83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704020202020204" pitchFamily="34" charset="0"/>
              <a:ea typeface="Arial" panose="020B0704020202020204" pitchFamily="34" charset="0"/>
              <a:cs typeface="Arial" panose="020B07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1339</Words>
  <Application>WPS Presentation</Application>
  <PresentationFormat>宽屏</PresentationFormat>
  <Paragraphs>63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Microsoft YaHei</vt:lpstr>
      <vt:lpstr>Arial Unicode MS</vt:lpstr>
      <vt:lpstr>SimSun</vt:lpstr>
      <vt:lpstr>宋体-简</vt:lpstr>
      <vt:lpstr>Apple Color Emoji</vt:lpstr>
      <vt:lpstr>Arial</vt:lpstr>
      <vt:lpstr>Office 主题​​</vt:lpstr>
      <vt:lpstr>PowerPoint 演示文稿</vt:lpstr>
      <vt:lpstr>PowerPoint 演示文稿</vt:lpstr>
      <vt:lpstr>PowerPoint 演示文稿</vt:lpstr>
      <vt:lpstr>Используемые технологии</vt:lpstr>
      <vt:lpstr>Интерфейс приложения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人格不明</cp:lastModifiedBy>
  <cp:revision>125</cp:revision>
  <dcterms:created xsi:type="dcterms:W3CDTF">2025-12-25T07:15:44Z</dcterms:created>
  <dcterms:modified xsi:type="dcterms:W3CDTF">2025-12-25T07:15:44Z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1033-12.1.23152.23152</vt:lpwstr>
  </property>
  <property fmtid="{D5CDD505-2E9C-101B-9397-08002B2CF9AE}" pid="3" name="ICV">
    <vt:lpwstr>0010309B997457B1A0E44C6945C534B5_43</vt:lpwstr>
  </property>
</Properties>
</file>